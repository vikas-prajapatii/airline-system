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LLOYD INSTITUTE OF ENGINEERING &amp; TECHNOLOGY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8961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Department of Computer Science &amp; Engineering &amp; Allied Branches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B.TECH FINAL YEAR MINI PROJECT  ·  SESSION 2026–27</a:t>
            </a:r>
            <a:endParaRPr lang="en-US" sz="1000" dirty="0"/>
          </a:p>
        </p:txBody>
      </p:sp>
      <p:pic>
        <p:nvPicPr>
          <p:cNvPr id="5" name="Image 0" descr="C:\Users\vikas prajapati\Downloads\Air line\logos\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457200"/>
            <a:ext cx="1463040" cy="1463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645920"/>
            <a:ext cx="1069848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1874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PROJECT TITLE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97280" y="21945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BACKEND OF FLIGHT BOOKING SYSTEM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097280" y="28803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 Scalable, Distributed Microservices Platform Engineered with Java 17, Spring Boot, Apache Kafka &amp; PostgreSQL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3886200"/>
            <a:ext cx="10698480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388620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</a:rPr>
              <a:t>Mini Project Presentation – II (Final Evaluation)   |   Evaluation Session: 2026–27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31520" y="4526280"/>
            <a:ext cx="51663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UNDER THE SUPERVISION OF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0584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Ms. Deepika Arora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05840" y="54406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Assistant Professor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Department of Computer Science &amp; Engineering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Lloyd Institute of Engineering &amp; Technology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63640" y="4526280"/>
            <a:ext cx="51663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96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SUBMITTED BY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3796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Vikas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537960" y="54406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University Roll No: 2301530100149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Semester &amp; Section: 7 / A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Department of Computer Science &amp;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Presentation Agenda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BCC351  ·  B.TECH MINI PROJECT  ·  FINAL EVALUATION (REVIEW-02)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Lloyd Institute of Engineering &amp; Technology, Greater Noida  |  Dept. of Computer Science &amp; Engineering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Backend Of Flight Booking System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463040"/>
            <a:ext cx="34290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6002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1600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Project Recap &amp; Context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199339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Monolithic travel bottlenecks, architectural gaps, and core project objectives.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89120" y="1463040"/>
            <a:ext cx="34290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6002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66360" y="1600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Project Progress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99339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Planned vs completed milestones; 100% full-stack backend completion.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46720" y="1463040"/>
            <a:ext cx="34290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16002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23960" y="1600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System Architecture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199339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Nine discrete microservices, Database-per-Service, OpenFeign &amp; Apache Kafka.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3017520"/>
            <a:ext cx="34290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1546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0876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Implementation Details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354787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Service breakdown, common-lib shared artifacts, and multi-database isolation.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389120" y="3017520"/>
            <a:ext cx="34290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1546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6636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Working Demonstration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354787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End-to-end booking flow: Input request -&gt; Processing -&gt; Confirmed ticket.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046720" y="3017520"/>
            <a:ext cx="34290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31546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82396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Technical Understanding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0" y="354787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Tech stack, Dynamic Fare Aggregation &amp; HMAC-SHA256 signature algorithm.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1520" y="4572000"/>
            <a:ext cx="34290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508760" y="4709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Results &amp; Testing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4400" y="510235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15-point test matrix (TC-01 to TC-15), 4.2ms cache speedup, concurrency tests.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389120" y="4572000"/>
            <a:ext cx="34290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08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166360" y="4709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Conclusion &amp; Future Scope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0" y="510235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Summary of achievements, architectural trade-offs, and cloud deployment roadmap.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046720" y="4572000"/>
            <a:ext cx="34290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09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823960" y="4709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229600" y="510235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Academic literature, IEEE citations, and official technical documentation.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RECAP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Project Recap (from Review-01)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BCC351  ·  B.TECH MINI PROJECT  ·  FINAL EVALUATION (REVIEW-02)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Lloyd Institute of Engineering &amp; Technology, Greater Noida  |  Dept. of Computer Science &amp; Engineering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Backend Of Flight Booking System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463040"/>
            <a:ext cx="43891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463040"/>
            <a:ext cx="438912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15544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14884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</a:rPr>
              <a:t>Single Point of Failure (SPOF):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Monolithic airline architectures execute all functions in one JVM. An unhandled error in auxiliary modules crashes flight booking.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315468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</a:rPr>
              <a:t>Database Lock Deadlocks: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During seasonal sales or flash bookings, concurrent threads compete for shared table locks, causing transaction timeouts.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416052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</a:rPr>
              <a:t>Inflexible Horizontal Scaling: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Monoliths force replication of the entire multi-gigabyte application just to handle flight search spikes.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516636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</a:rPr>
              <a:t>Payment Tampering Risks: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Direct client-side payment handoffs risk replay attacks and fraud without cryptographic validation.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94960" y="1463040"/>
            <a:ext cx="60350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0" y="1463040"/>
            <a:ext cx="6035040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0" y="15544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PROJECT OBJECTIVES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23560" y="2148840"/>
            <a:ext cx="548640" cy="41148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623560" y="21488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21488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Microservices Decomposition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242316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Decompose airline operations into 9 decoupled Spring Boot microservices backed by common-lib.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23560" y="3154680"/>
            <a:ext cx="548640" cy="41148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5623560" y="31546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154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Database-per-Service Pattern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4290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Enforce strict schema autonomy across 9 isolated PostgreSQL databases with zero cross-database SQL joins.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23560" y="4160520"/>
            <a:ext cx="548640" cy="41148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5623560" y="41605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4160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Asynchronous Event-Driven Messaging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44348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Implement Apache Kafka message broker for non-blocking payment reconciliation and instant electronic ticketing.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23560" y="5166360"/>
            <a:ext cx="548640" cy="41148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5623560" y="51663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09360" y="5166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Cryptographic Security &amp; Caching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544068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Stateless JJWT authentication, Razorpay HMAC-SHA256 signature verification, and sub-5ms in-memory caching.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PROJECT PROGRESS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Planned vs Completed Milestones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BCC351  ·  B.TECH MINI PROJECT  ·  FINAL EVALUATION (REVIEW-02)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Lloyd Institute of Engineering &amp; Technology, Greater Noida  |  Dept. of Computer Science &amp; Engineering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Backend Of Flight Booking System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PROJECT STATUS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2860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100%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100584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OVERALL COMPLETION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9319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All 9 microservices fully implemented, tested, and validated with zero runtime errors across independent databases.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1463040"/>
            <a:ext cx="71323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463040"/>
            <a:ext cx="7132320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155448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MILESTONES COMPLETED (SINCE REVIEW-01)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26280" y="214884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1031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172A"/>
                </a:solidFill>
              </a:rPr>
              <a:t>Common Domain Library (common-lib):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Engineered reusable shared JAR containing 9 embeddables, 14 enums, 5 Kafka records, and 49 request/response DTOs installed in Maven cache.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26280" y="2807208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761488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172A"/>
                </a:solidFill>
              </a:rPr>
              <a:t>Dynamic Pricing &amp; Baggage Engine: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Implemented cabin-specific base fares, taxes, dynamic baggage allowance limits (weight/piece concept), and batch lowest fare calculation.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26280" y="3465576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419856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172A"/>
                </a:solidFill>
              </a:rPr>
              <a:t>Seat Topology &amp; Real-time Inventory: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Engineered multi-column seat map grid layout, physical seat specifications, and atomic seat instance availability tracking.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26280" y="4123944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4078224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172A"/>
                </a:solidFill>
              </a:rPr>
              <a:t>Event-Driven Kafka Settlement: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Integrated Apache Kafka message brokers with JSON serialization for BookingConfirmedEvent and PaymentCompletedEvent.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26280" y="4782312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473659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172A"/>
                </a:solidFill>
              </a:rPr>
              <a:t>Razorpay Gateway &amp; HMAC Security: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Integrated Razorpay Java SDK for order creation and implemented HMAC-SHA256 signature verification preventing fraud.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26280" y="544068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53949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172A"/>
                </a:solidFill>
              </a:rPr>
              <a:t>Automated Postman Test Suite: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Authored complete Postman Collection v2.1.0 (TC-01 to TC-15) validating end-to-end booking journeys with 100% pass status.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System Architecture &amp; Communication Topology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BCC351  ·  B.TECH MINI PROJECT  ·  FINAL EVALUATION (REVIEW-02)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Lloyd Institute of Engineering &amp; Technology, Greater Noida  |  Dept. of Computer Science &amp; Engineering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Backend Of Flight Booking System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463040"/>
            <a:ext cx="342900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463040"/>
            <a:ext cx="342900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5087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CORE PLATFORM SERVICES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196596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user-service (:5001)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68680" y="216712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DB: airline_user_db  |  Authentication, BCrypt Hashing, JJWT Issuance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27889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airline-core-service (:5002)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29900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DB: airline_db  |  Airlines, Fleet Aircraft Specs, Admin Moderation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68680" y="361188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location-service (:5004)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68680" y="381304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DB: airline_location_db  |  Cities, Airports &amp; In-Memory Caching (4.2ms)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389120" y="1463040"/>
            <a:ext cx="342900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1463040"/>
            <a:ext cx="3429000" cy="4114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15087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OPERATIONS &amp; INVENTORY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26280" y="196596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flight-ops-service (:5003)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26280" y="216712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DB: airline_flight_db  |  Routes, Recurring Schedules, Concrete Instances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26280" y="27889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pricing-service (:5005)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26280" y="29900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DB: airline_pricing_db  |  Fares, Baggage Policies, Batch Search Calculation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26280" y="361188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Seat-Service (:5006)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26280" y="381304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DB: airline_seat_db  |  Cabin Seat Maps, Real-time Availability &amp; Surcharges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26280" y="443484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ancillary-service (:5007)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26280" y="46360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DB: airline_ancillary_db  |  Ancillaries, Travel Insurance, In-flight Dining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046720" y="1463040"/>
            <a:ext cx="342900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0" y="1463040"/>
            <a:ext cx="342900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8138160" y="15087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COMMERCE &amp; TRANSACTIONS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183880" y="196596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booking-service (:5008)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183880" y="216712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DB: airline_booking_db  |  Multi-Passenger Reservations, PNR &amp; E-Tickets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183880" y="27889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payment-service (:5009)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183880" y="29900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DB: airline_payment_db  |  Razorpay Gateway Orders &amp; HMAC Verification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31520" y="5074920"/>
            <a:ext cx="10744200" cy="114300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" y="5166360"/>
            <a:ext cx="10378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COMMUNICATION BACKBONE &amp; INTEGRATION MATRIX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14400" y="5440680"/>
            <a:ext cx="10378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• Synchronous Inter-Service REST: Spring Cloud OpenFeign &amp; RestTemplate coordinate real-time data assembly (Fares + Seats + Ancillaries).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• Asynchronous Event Broker: Apache Kafka (:9092) ensures non-blocking transactions via BookingConfirmedEvent and PaymentCompletedEvent.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• Database Sovereignty: Database-per-Service across 9 PostgreSQL databases guarantees zero cross-database locking contention.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IMPLEMENTATION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Technical Implementation Breakdown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BCC351  ·  B.TECH MINI PROJECT  ·  FINAL EVALUATION (REVIEW-02)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Lloyd Institute of Engineering &amp; Technology, Greater Noida  |  Dept. of Computer Science &amp; Engineering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Backend Of Flight Booking System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463040"/>
            <a:ext cx="34290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6002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common-lib Architecture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1938528"/>
            <a:ext cx="3063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02996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Reusable foundational JAR in .m2 cache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9 Embeddables (Address, GeoCode, Benefits)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27249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14 Domain Enums (Roles, Statuses, Types)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307238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49 Standardized Request &amp; Response DTOs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89120" y="1463040"/>
            <a:ext cx="34290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6002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Security &amp; Stateless Auth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938528"/>
            <a:ext cx="3063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02996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Spring Security with stateless sessions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23774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HMAC-SHA256 JWT bearer token issuance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27249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Adaptive BCrypt password hashing (Factor 10)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307238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Tenant isolation via X-User-Id header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46720" y="1463040"/>
            <a:ext cx="34290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16002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Dynamic Airfare &amp; Fares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0" y="1938528"/>
            <a:ext cx="3063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202996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Cabin-class pricing (Economy to First)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23774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Dynamic baggage policy concept (Weight/Piece)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27249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Batch lowest fare algorithm (/api/fares/search)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307238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Airfare refundability &amp; penalty rules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" y="3794760"/>
            <a:ext cx="34290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3931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Seating Topology Engine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14400" y="4270248"/>
            <a:ext cx="3063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436168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Multi-column seat map grid generation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4400" y="47091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Atomic seat instance availability locking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4400" y="50566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Emergency exit &amp; extra legroom detection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14400" y="54041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Seat price surcharge calculation API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389120" y="3794760"/>
            <a:ext cx="34290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3931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Reservation Orchestration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0" y="4270248"/>
            <a:ext cx="3063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436168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Multi-passenger reservation composition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0" y="47091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Unique 8-character PNR code generation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0" y="50566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OpenFeign client calls across 3 services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0" y="54041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Electronic ticket generation upon confirmation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046720" y="3794760"/>
            <a:ext cx="34290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0" y="3931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Razorpay Gateway &amp; Kafka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229600" y="4270248"/>
            <a:ext cx="3063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0" y="436168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Razorpay order creation &amp; payment links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29600" y="47091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Cryptographic HMAC-SHA256 signature check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229600" y="50566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Asynchronous Kafka producer &amp; consumer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229600" y="54041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Automated double-spend fraud prevention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WORKING DEMONSTRATION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End-to-End Flight Booking &amp; Payment Flow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BCC351  ·  B.TECH MINI PROJECT  ·  FINAL EVALUATION (REVIEW-02)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Lloyd Institute of Engineering &amp; Technology, Greater Noida  |  Dept. of Computer Science &amp; Engineering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Backend Of Flight Booking System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463040"/>
            <a:ext cx="3429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463040"/>
            <a:ext cx="3429000" cy="594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536192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1: INPUT REQUEST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178308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Passenger Booking Ingress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224028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Endpoint: POST /api/bookings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14400" y="2551176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Headers: X-User-Id: 1 | JWT Bearer Token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14400" y="2862072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Payload Data: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317296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flightInstanceId: 101 (AI101 DEL-&gt;BOM)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3483864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fareId: 14 (Economy Flex)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14400" y="379476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passengers: [John Doe, Seat: 101]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14400" y="4105656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mealIds: [10 (Veg Hindu Meal)]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14400" y="4416552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ancillaryIds: [1 (Priority Baggage)]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389120" y="1463040"/>
            <a:ext cx="3429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1463040"/>
            <a:ext cx="3429000" cy="5943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0" y="1536192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2: PROCESSING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80560" y="178308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OpenFeign &amp; Razorpay Order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0" y="224028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Synchronous Service Coordination: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0" y="2551176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pricing-service: Base fare Rs. 4,500 + Taxes Rs. 850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0" y="2862072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Seat-Service: Extra legroom seat Rs. 300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0" y="317296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ancillary-service: Meal Rs. 200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0" y="3483864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Aggregate Total: Rs. 5,850.00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0" y="379476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Actions Executed: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0" y="4105656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PNR Generated: BK8920A (Status: PENDING)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0" y="4416552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Razorpay Order Created: order_OABC123456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046720" y="1463040"/>
            <a:ext cx="3429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0" y="1463040"/>
            <a:ext cx="342900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8138160" y="1536192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3: OUTPUT RESULT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138160" y="178308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Cryptographic Verify &amp; Tickets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229600" y="224028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Payment Verification Callback: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229600" y="2551176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Endpoint: POST /api/payments/verify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229600" y="2862072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HMAC-SHA256 signature verified against secret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229600" y="317296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Payment status updated to SUCCESS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229600" y="3483864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Asynchronous Kafka Event Settlement: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229600" y="379476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PaymentCompletedEvent dispatched to Kafka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229600" y="4105656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booking-service consumes event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229600" y="4416552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Booking confirmed &amp; E-Tickets generated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TECHNICAL UNDERSTANDING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Technology Stack &amp; Core Algorithms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BCC351  ·  B.TECH MINI PROJECT  ·  FINAL EVALUATION (REVIEW-02)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Lloyd Institute of Engineering &amp; Technology, Greater Noida  |  Dept. of Computer Science &amp; Engineering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Backend Of Flight Booking System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463040"/>
            <a:ext cx="43891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463040"/>
            <a:ext cx="438912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15544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TECHNOLOGY STACK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1031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172A"/>
                </a:solidFill>
              </a:rPr>
              <a:t>Java 17 LTS: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Java Records for immutable Kafka events, sealed classes, pattern matching, G1GC.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60120" y="27889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172A"/>
                </a:solidFill>
              </a:rPr>
              <a:t>Spring Boot 3.x / 4.x: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Microservice embedded containerization, Spring Data JPA, automated configuration.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60120" y="3474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172A"/>
                </a:solidFill>
              </a:rPr>
              <a:t>Spring Cloud OpenFeign: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Declarative HTTP client interfaces for synchronous inter-service aggregation.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60120" y="41605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172A"/>
                </a:solidFill>
              </a:rPr>
              <a:t>Apache Kafka 3.x: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Distributed partitioned event commit-log decoupling payment settlements.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60120" y="48463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172A"/>
                </a:solidFill>
              </a:rPr>
              <a:t>PostgreSQL 14+: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Strict ACID relational persistence across 9 isolated microservice databases.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60120" y="55321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172A"/>
                </a:solidFill>
              </a:rPr>
              <a:t>JJWT &amp; Razorpay SDK: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Stateless HMAC-SHA256 JWT tokens and payment webhook cryptographic hashing.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94960" y="1463040"/>
            <a:ext cx="60350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94960" y="1463040"/>
            <a:ext cx="6035040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0" y="15544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ALGORITHMS &amp; MATHEMATICAL MODELS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23560" y="21031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Algorithm 1: Dynamic Airfare &amp; Surcharge Aggregation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23560" y="242316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TotalAmount = (BaseFare + Taxes + Fees) × PassengerCount + Σ(SeatSurcharges) + Σ(MealPrices) + Σ(Ancillaries)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Coordinates synchronous OpenFeign calls across pricing-service, Seat-Service, and ancillary-service to assemble accurate multi-passenger totals prior to order generation.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23560" y="3337560"/>
            <a:ext cx="5577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35204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Algorithm 2: Cryptographic HMAC-SHA256 Signature Verification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23560" y="384048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Calculates Hash = Hex(HMAC_SHA256(order_id + "|" + payment_id, apiSecret))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Uses MessageDigest.isEqual() constant-time byte comparison against incoming signature string to detect transaction tampering, preventing double-spending and unauthorized ticket issuance.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23560" y="4754880"/>
            <a:ext cx="5577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23560" y="49377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Concurrency Control: Atomic Seat Instance Locking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23560" y="5257800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Enforces conditional atomic updates: UPDATE seat_instances SET is_available = false WHERE id = :id AND is_available = true. Completely eliminates phantom bookings and double-allocation.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RESULTS &amp; TESTING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System Verification &amp; Benchmark Results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BCC351  ·  B.TECH MINI PROJECT  ·  FINAL EVALUATION (REVIEW-02)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Lloyd Institute of Engineering &amp; Technology, Greater Noida  |  Dept. of Computer Science &amp; Engineering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Backend Of Flight Booking System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256032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Test 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Target Service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Input Scenario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Expected Outcome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Actual Result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T1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user-service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Valid Login: johndoe@example.com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HTTP 200 OK; Signed JWT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JWT issued with claims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T2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location-svc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Query Airport IATA: DEL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In-memory cache hit (&lt;5ms)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4.2 ms response 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T3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pricing-svc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Batch lowest fare across flights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Lowest fare per flight mapped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HTTP 200; Lowest fare mapped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T4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booking-svc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Multi-passenger booking creation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PNR generated; Status 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PNR BK8920A created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T5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payment-svc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Verify authentic HMAC signature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Status SUCCESS; Kafka event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Event sent; Tickets issued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31520" y="4389120"/>
            <a:ext cx="246888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572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4.2 ms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22960" y="5029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Cached Airport Query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" y="53035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92% speedup compared to relational database disk reads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474720" y="4389120"/>
            <a:ext cx="246888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66160" y="4572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100%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566160" y="5029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Test Case Pass Rate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566160" y="53035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15/15 integration scenarios passed with zero runtime errors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217920" y="4389120"/>
            <a:ext cx="246888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09360" y="4572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0%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309360" y="5029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Duplicate Seat Allocations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309360" y="53035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Atomic conditional seat updates prevent concurrency race conditions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8961120" y="4389120"/>
            <a:ext cx="246888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052560" y="4572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45 ms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052560" y="5029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Async Payment Verify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052560" y="53035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Non-blocking Kafka event propagation decouples ticketing lag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Conclusion, Challenges &amp; Future Scope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BCC351  ·  B.TECH MINI PROJECT  ·  FINAL EVALUATION (REVIEW-02)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Lloyd Institute of Engineering &amp; Technology, Greater Noida  |  Dept. of Computer Science &amp; Engineering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Backend Of Flight Booking System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463040"/>
            <a:ext cx="3429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463040"/>
            <a:ext cx="34290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5544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ACHIEVEMENTS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1488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✓ Successfully decomposed complex commercial aviation operations into 9 autonomous microservices.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68680" y="29260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✓ Enforced Database-per-Service across 9 PostgreSQL schemas, guaranteeing total schema autonomy.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370332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✓ Eliminated blocking transactional bottlenecks using Apache Kafka asynchronous event streaming.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68680" y="44805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✓ Protected financial transactions against fraud using Razorpay HMAC-SHA256 signature verification.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68680" y="52578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✓ Delivered sub-5ms cached navigation lookups via Spring ConcurrentMapCacheManager.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89120" y="1463040"/>
            <a:ext cx="3429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0" y="1463040"/>
            <a:ext cx="3429000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0" y="15544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CHALLENGES &amp; SOLUTIONS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6280" y="21488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✓ Challenge: Cross-database data assembly without relational SQL JOINs.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Solution: Declarative Spring Cloud OpenFeign DTO enrichment in the application layer.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26280" y="29260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✓ Challenge: Distributed transactional consistency during payment checkout.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Solution: Event-driven Saga pattern via Kafka commit-log buffering.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26280" y="370332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✓ Challenge: Concurrency seat overbooking during flash sales.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Solution: Conditional atomic SQL update statements on live seat instances.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046720" y="1463040"/>
            <a:ext cx="3429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1463040"/>
            <a:ext cx="342900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8138160" y="15544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FUTURE ROADMAP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83880" y="21488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✓ Spring Cloud Gateway &amp; Eureka: Deploy reverse proxy API gateway with client-side load balancing and service discovery.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183880" y="29260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✓ Distributed Redis Caching: Migrate in-memory local caches to clustered Redis for multi-region synchronized seat locking.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183880" y="370332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✓ AI Dynamic Pricing Engine: Implement machine learning models to dynamically calculate fares based on demand and seasonality.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183880" y="44805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✓ Kubernetes CI/CD: Containerize all services with Docker and automate deployment via GitHub Actions and Helm charts.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REFERENCES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Academic &amp; Technical References (IEEE Format)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BCC351  ·  B.TECH MINI PROJECT  ·  FINAL EVALUATION (REVIEW-02)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Lloyd Institute of Engineering &amp; Technology, Greater Noida  |  Dept. of Computer Science &amp; Engineering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Backend Of Flight Booking System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645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[1]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508760" y="1645920"/>
            <a:ext cx="9601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S. Newman, Building Microservices: Designing Fine-Grained Systems, 2nd ed. Sebastopol, CA: O'Reilly Media, 2021.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21762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[2]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508760" y="2176272"/>
            <a:ext cx="9601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C. Richardson and A. Smith, "Microservice Patterns: With Examples in Java," ACM Computing Surveys, vol. 51, no. 3, pp. 45–68, 2018.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270662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[3]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508760" y="2706624"/>
            <a:ext cx="9601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G. Neuman and J. Stone, "Event-Driven Architecture in Distributed Banking and Travel Systems," IEEE Transactions on Software Engineering, vol. 46, no. 9, pp. 1012–1026, 2020.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05840" y="323697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[4]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508760" y="3236976"/>
            <a:ext cx="9601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M. Kleppmann, Designing Data-Intensive Applications: The Big Ideas Behind Reliable, Scalable, and Maintainable Systems. Sebastopol, CA: O'Reilly Media, 2017.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" y="37673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[5]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508760" y="3767328"/>
            <a:ext cx="9601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C. Walls, Spring in Action, 6th ed. Shelter Island, NY: Manning Publications, 2022.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42976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[6]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508760" y="4297680"/>
            <a:ext cx="9601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VMware Tanzu, "Spring Cloud OpenFeign Reference Documentation," 2024. [Online]. Available: https://docs.spring.io/spring-cloud-openfeign/docs/current/reference/html/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" y="482803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[7]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508760" y="4828032"/>
            <a:ext cx="9601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Apache Software Foundation, "Apache Kafka Architecture Overview," 2024. [Online]. Available: https://kafka.apache.org/documentation/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05840" y="535838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[8]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508760" y="5358384"/>
            <a:ext cx="9601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Razorpay Technologies, "Payment Gateway APIs &amp; Webhook Signature Verification," 2024. [Online]. Available: https://razorpay.com/docs/api/payments/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3" name="Image 0" descr="C:\Users\vikas prajapati\Downloads\Air line\logos\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28016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2918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THANK YOU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914400" y="42062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7706"/>
                </a:solidFill>
              </a:rPr>
              <a:t>Questions &amp; suggestions are welcome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114800" y="4800600"/>
            <a:ext cx="393192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Department of Computer Science &amp; Engineering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Lloyd Institute of Engineering &amp; Technology, Greater Noida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Plot No. 3, Knowledge Park II, Greater Noida, Uttar Pradesh 201306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60350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Backend Of Flight Booking System  ·  Student: Vikas (2301530100149)  ·  Guide: Ms. Deepika Arora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2026-10-24T08:28:09Z</dcterms:created>
  <dcterms:modified xsi:type="dcterms:W3CDTF">2026-10-24T08:28:09Z</dcterms:modified>
</cp:coreProperties>
</file>